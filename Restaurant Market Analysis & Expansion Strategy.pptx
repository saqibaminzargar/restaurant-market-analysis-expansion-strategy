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4" r:id="rId5"/>
    <p:sldId id="266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81AF-5EAB-E5FE-855B-285AFCFCB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334E3-F524-B7CD-6EB1-CF58382B5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CE75-914B-84CC-F3F0-CBB3E23B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A637F-6635-2FE9-565C-FBC79306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1EC77-E8C3-A021-675A-09C07AEF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9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6D02-84D7-36D5-28F9-412897F4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5FFE-761F-DCE3-B42C-F40E0F3B0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02DDF-49AB-66E1-0C54-C27F1E61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A5D5-67C0-C10A-3BDC-364CDE52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4BC5-9783-FD56-BD0E-F158FC1B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9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F2C8-9587-F5F5-EB90-9BE4AB27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92485-4E77-1E30-B811-97A145471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CAC4-3CFA-4F6E-0237-0DCF8977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B067-8DB9-A645-0905-F3C5CDD4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1B75-8A21-7219-0AE4-01BABA8B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4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7EEF-611B-DE21-321A-A21ABA47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A72C-A63C-5353-4B9A-F4E46724F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C7394-CC9C-988F-2D4A-F4E5C52ED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1FC5C-0627-7EFE-099D-007F1169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3D2A0-646A-0134-02FC-D9CAB90B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F5B1E-41BC-DE09-E063-AD8C4F27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49BF-8D22-8270-3C68-46EDD820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79946-86E5-9EBF-D2C0-D19C44D7D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4539B-4A94-0A51-CC5F-BA20B527E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9BAF1-F04B-5EFF-A3F0-74240C748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8867E-3A90-6F05-3D6A-7B910D6DA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8FB20-9FFE-12DB-DAEE-4A0FD27E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394940-526E-B1A3-9F8C-A71700C5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459DF-680C-B038-13B1-BE50A9E9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42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C011-8F1B-E609-B707-237EEDC9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6C0EC-1E87-8333-A567-74C79E69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FF827-47A7-0513-217C-AB92C024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14BD2-34F8-A87E-2E42-9A57F95E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85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15B0A-DBF0-C30E-85CA-B47F5F85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47B29-82AF-EF08-399B-83844C5E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62C19-F16F-51E6-4E50-A82EB6FC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8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AF4F-3EA9-8DB5-1218-29A5C70D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DBC36-F0F0-8CF9-24D7-6094DDB22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27ABC-3342-CE8F-784E-54C01E58E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DF437-67B8-1156-3F50-2A3105D0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8AFB1-F3F4-689E-AB13-ABC97737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3EC7B-8632-C02A-FF14-05507972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60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AE41-6E6F-7D6E-7E6F-E7E7DC89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C0063-6156-0EDA-8B2F-93207765C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757F9-8FA7-397D-B4A8-213221336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6255-2943-F9BE-11BB-0F47DA0C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5FAA5-7B6A-0383-0FD5-A8F70F3A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FEA6B-7A6D-B134-B5E4-DE1AF25D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62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5040-F846-5159-7FDF-9B12DE47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00617-D746-C4B3-8FBE-691306186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76F-C60F-0410-FAD9-806FABB3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98D96-7549-A129-24B9-710941C0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AD01B-98EE-4637-883A-27B768A8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B1BC0-FCF3-A4B2-6D1F-B1F60F6F6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97D4A-C8C6-8641-34F3-458E434F2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A0BE-CEE0-06A7-4BE1-4BD23C60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43861-4A12-9CA9-45FD-9E1448E0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19A0-726A-0FE2-AB85-A1F0DE35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7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3A07A-B07B-818D-C95B-9CF90889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5BA3A-82BE-5D22-E65B-4E45A355E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3A0EE-CDDB-3A9E-B44E-B62CB8C06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AC661-8EEB-4778-82FE-19DFA6F371A8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F2E9-014C-BE78-0606-6108CD0B4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1E35-8315-A53B-D5E3-0484E76DD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6FDBA-A5EF-440E-92F0-CC169AE514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2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>
                <a:lumMod val="5000"/>
                <a:lumOff val="9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78000">
              <a:schemeClr val="accent1">
                <a:lumMod val="45000"/>
                <a:lumOff val="55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E343-36A9-1163-19B3-368DB8C1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4051491"/>
          </a:xfrm>
        </p:spPr>
        <p:txBody>
          <a:bodyPr>
            <a:normAutofit/>
          </a:bodyPr>
          <a:lstStyle/>
          <a:p>
            <a:pPr algn="ctr"/>
            <a:r>
              <a:rPr lang="sv-SE" sz="6000" b="1" dirty="0">
                <a:solidFill>
                  <a:schemeClr val="accent5">
                    <a:lumMod val="75000"/>
                  </a:schemeClr>
                </a:solidFill>
              </a:rPr>
              <a:t>Restaurant Market Analysis &amp; Expansion Strategy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700" b="1" dirty="0">
                <a:solidFill>
                  <a:schemeClr val="accent5">
                    <a:lumMod val="75000"/>
                  </a:schemeClr>
                </a:solidFill>
              </a:rPr>
              <a:t>    9 Major Cities · 3 Price Segments · 13 Cuisine Categories </a:t>
            </a:r>
            <a:br>
              <a:rPr lang="en-US" sz="2700" b="1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en-US" sz="31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Restaurant Market Intelligence Report that identified expansion opportunities by analyzing restaurant density, cuisine demand, customer ratings, and pricing across Indian cities. Based on the analysis, I recommended cities and cuisine segments with strong growth potential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9DB632-5F3B-28AF-BF50-893F05448A75}"/>
              </a:ext>
            </a:extLst>
          </p:cNvPr>
          <p:cNvSpPr/>
          <p:nvPr/>
        </p:nvSpPr>
        <p:spPr>
          <a:xfrm>
            <a:off x="464234" y="4234373"/>
            <a:ext cx="2726789" cy="1871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  <a:p>
            <a:pPr algn="ctr"/>
            <a:r>
              <a:rPr lang="en-US" sz="2400" dirty="0"/>
              <a:t>Cities Analyzed</a:t>
            </a:r>
          </a:p>
          <a:p>
            <a:pPr algn="ctr"/>
            <a:r>
              <a:rPr lang="en-US" sz="2400" dirty="0"/>
              <a:t>Across India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63EF8-2A9F-9A7E-E701-03B56988EC8C}"/>
              </a:ext>
            </a:extLst>
          </p:cNvPr>
          <p:cNvSpPr/>
          <p:nvPr/>
        </p:nvSpPr>
        <p:spPr>
          <a:xfrm>
            <a:off x="6114758" y="4234372"/>
            <a:ext cx="2726788" cy="1871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Avg Rating </a:t>
            </a:r>
          </a:p>
          <a:p>
            <a:pPr algn="ctr"/>
            <a:r>
              <a:rPr lang="en-US" sz="2400" dirty="0"/>
              <a:t>3.65</a:t>
            </a:r>
          </a:p>
          <a:p>
            <a:pPr algn="ctr"/>
            <a:r>
              <a:rPr lang="en-US" sz="2400" dirty="0"/>
              <a:t>(top city) Kolkata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FF81B9-07E9-76D2-EBE7-4F0846C4D4A2}"/>
              </a:ext>
            </a:extLst>
          </p:cNvPr>
          <p:cNvSpPr/>
          <p:nvPr/>
        </p:nvSpPr>
        <p:spPr>
          <a:xfrm>
            <a:off x="8940019" y="4234371"/>
            <a:ext cx="2726788" cy="1871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Avg Price</a:t>
            </a:r>
          </a:p>
          <a:p>
            <a:pPr algn="ctr"/>
            <a:r>
              <a:rPr lang="en-US" sz="2400" dirty="0"/>
              <a:t>348.4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B332D4-1C7F-4B60-B217-0A5F3F1DFAA9}"/>
              </a:ext>
            </a:extLst>
          </p:cNvPr>
          <p:cNvSpPr/>
          <p:nvPr/>
        </p:nvSpPr>
        <p:spPr>
          <a:xfrm>
            <a:off x="3289496" y="4234374"/>
            <a:ext cx="2726789" cy="18710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8,799 </a:t>
            </a:r>
          </a:p>
          <a:p>
            <a:pPr algn="ctr"/>
            <a:r>
              <a:rPr lang="en-US" sz="2400" dirty="0"/>
              <a:t>Total Restaurants</a:t>
            </a:r>
          </a:p>
        </p:txBody>
      </p:sp>
    </p:spTree>
    <p:extLst>
      <p:ext uri="{BB962C8B-B14F-4D97-AF65-F5344CB8AC3E}">
        <p14:creationId xmlns:p14="http://schemas.microsoft.com/office/powerpoint/2010/main" val="2127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5000"/>
                <a:lumOff val="95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40000">
              <a:schemeClr val="accent1">
                <a:lumMod val="45000"/>
                <a:lumOff val="55000"/>
              </a:schemeClr>
            </a:gs>
            <a:gs pos="7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BDB6-D170-6D69-95A2-34CF706B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34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City-Wise Restaurant And Average Rating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23DD28-6B33-1886-54B4-8DDBE7B783F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8" y="1420838"/>
            <a:ext cx="5008099" cy="339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E74A6D-E60B-75B4-E90B-21306CDB2BF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20838"/>
            <a:ext cx="5008098" cy="351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C50571-1AB6-DB7D-FDAF-94DD8D68993A}"/>
              </a:ext>
            </a:extLst>
          </p:cNvPr>
          <p:cNvSpPr txBox="1"/>
          <p:nvPr/>
        </p:nvSpPr>
        <p:spPr>
          <a:xfrm>
            <a:off x="731521" y="4937760"/>
            <a:ext cx="10768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Kolkata leads in both restaurant and highest average rating , making it the strongest overall market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Delhi ranks 8th in density and has a concerningly low avg rating suggesting quality issues.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Surat has the fewest restaurants with the lowest rating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Ahmedabad shows moderate with below-average ratings — an opportunity if quality gaps are filled. </a:t>
            </a:r>
          </a:p>
        </p:txBody>
      </p:sp>
    </p:spTree>
    <p:extLst>
      <p:ext uri="{BB962C8B-B14F-4D97-AF65-F5344CB8AC3E}">
        <p14:creationId xmlns:p14="http://schemas.microsoft.com/office/powerpoint/2010/main" val="78135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7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0AEC-7FF5-B49C-82B0-5A3DAAEB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290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Cuisine Demand &amp; Rating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0F80A3A-E080-9AD0-23AB-B95C0BFC1BA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8296"/>
            <a:ext cx="5257800" cy="378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6F88B0E-48E3-7B00-112B-682F2396553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9" y="1308297"/>
            <a:ext cx="5257799" cy="378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D6E4B-1A40-AF8D-E706-42C6E501F969}"/>
              </a:ext>
            </a:extLst>
          </p:cNvPr>
          <p:cNvSpPr txBox="1"/>
          <p:nvPr/>
        </p:nvSpPr>
        <p:spPr>
          <a:xfrm>
            <a:off x="838200" y="5261317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North Indian dominates demand (2,500+ listings)  but highly competitive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South Indian achieves the highest average rating  despite lower volume  quality niche opportunity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Mexican &amp; Middle Eastern cuisines show strong ratings with low competition  underserved niche markets</a:t>
            </a:r>
          </a:p>
        </p:txBody>
      </p:sp>
    </p:spTree>
    <p:extLst>
      <p:ext uri="{BB962C8B-B14F-4D97-AF65-F5344CB8AC3E}">
        <p14:creationId xmlns:p14="http://schemas.microsoft.com/office/powerpoint/2010/main" val="308604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7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E2E3-F900-83A0-7B51-DA20BF1D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821"/>
          </a:xfrm>
        </p:spPr>
        <p:txBody>
          <a:bodyPr/>
          <a:lstStyle/>
          <a:p>
            <a:r>
              <a:rPr lang="en-US" dirty="0"/>
              <a:t>Price Category Distribution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442F26E-54CF-86AB-C772-E85A096EBE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64" y="1429840"/>
            <a:ext cx="55696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09986C-01EF-F71C-7517-50F5CE8638BA}"/>
              </a:ext>
            </a:extLst>
          </p:cNvPr>
          <p:cNvSpPr txBox="1"/>
          <p:nvPr/>
        </p:nvSpPr>
        <p:spPr>
          <a:xfrm>
            <a:off x="6096000" y="1596788"/>
            <a:ext cx="4781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Indian restaurant market is overwhelmingly budget-oriented, with nearly two-thirds of all restaurants positioned in the affordable segment</a:t>
            </a:r>
          </a:p>
          <a:p>
            <a:endParaRPr lang="en-US" dirty="0"/>
          </a:p>
          <a:p>
            <a:r>
              <a:rPr lang="en-US" dirty="0"/>
              <a:t>Budget (64.7%): Largest segment </a:t>
            </a:r>
          </a:p>
          <a:p>
            <a:r>
              <a:rPr lang="en-US" dirty="0"/>
              <a:t>Mid-Range (28.5%): Growing aspirational tier Premium (6.7%)</a:t>
            </a:r>
          </a:p>
        </p:txBody>
      </p:sp>
    </p:spTree>
    <p:extLst>
      <p:ext uri="{BB962C8B-B14F-4D97-AF65-F5344CB8AC3E}">
        <p14:creationId xmlns:p14="http://schemas.microsoft.com/office/powerpoint/2010/main" val="425795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7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4432-46CB-6958-B7C1-3CF75B6F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2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City Scoring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56751-9750-C062-1ACC-EF6AB6F5F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160" y="1754580"/>
            <a:ext cx="5090615" cy="26536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BFB3A-F087-DA8D-52B6-7570B669EE44}"/>
              </a:ext>
            </a:extLst>
          </p:cNvPr>
          <p:cNvSpPr txBox="1"/>
          <p:nvPr/>
        </p:nvSpPr>
        <p:spPr>
          <a:xfrm>
            <a:off x="634053" y="5103421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Bangalore, Ahmadabad and Surat has great Potential for Expansion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Surat is Underserved Gem with low restaurants but highly Rated 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E93F6-9F61-46E4-C679-558DF3D1135B}"/>
              </a:ext>
            </a:extLst>
          </p:cNvPr>
          <p:cNvSpPr txBox="1"/>
          <p:nvPr/>
        </p:nvSpPr>
        <p:spPr>
          <a:xfrm>
            <a:off x="759762" y="1385248"/>
            <a:ext cx="400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Cities with Highly Rated Restaurants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57F54-2EB3-C4D0-3C74-C8CF320A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69" y="1754579"/>
            <a:ext cx="5903225" cy="27098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FC7B1F-4B6F-127B-F049-7A7AA2E04D8D}"/>
              </a:ext>
            </a:extLst>
          </p:cNvPr>
          <p:cNvSpPr txBox="1"/>
          <p:nvPr/>
        </p:nvSpPr>
        <p:spPr>
          <a:xfrm>
            <a:off x="6305265" y="1385247"/>
            <a:ext cx="45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no. of Restaurants with Rating</a:t>
            </a:r>
          </a:p>
        </p:txBody>
      </p:sp>
    </p:spTree>
    <p:extLst>
      <p:ext uri="{BB962C8B-B14F-4D97-AF65-F5344CB8AC3E}">
        <p14:creationId xmlns:p14="http://schemas.microsoft.com/office/powerpoint/2010/main" val="65633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7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E87A-BF9C-B4EA-A3E6-5DC3DC88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Final Business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149DA-2C7E-ABD3-EE29-9BD4E36EC8D0}"/>
              </a:ext>
            </a:extLst>
          </p:cNvPr>
          <p:cNvSpPr txBox="1"/>
          <p:nvPr/>
        </p:nvSpPr>
        <p:spPr>
          <a:xfrm>
            <a:off x="838200" y="1037230"/>
            <a:ext cx="993557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Best City for Expansion: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Ahmedabad, Bangalore  and Surat  Ahmedabad has only 717 restaurants with moderate competition a new quality restaurant can rapidly dominate.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Bangalore 946 offers strong tech-savvy demographics and a growing food culture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High-Demand Cuisines to Target: North Indian + South Indian: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North Indian commands the highest volume (2,500+ listings) making it essential for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South Indian earns the top average rating combining both maximizes satisfaction.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Optimal Price Range: Mid-Range  with Budget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The mid-range segment (28.5%) is growing fastest, underserved relative to budget (64.7%). Launch with a budget menu to capture volume, then upsell mid-range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Premium (6.7%) is viable only in Kolkata, Mumbai, or Chennai.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Underserved Markets: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Surat &amp; Delhi (with Quality Focus) Surat has the lowest restaurant density (512) and lowest average rating (3.6) a well-executed quality restaurant here faces almost no quality competition.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81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435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Restaurant Market Analysis &amp; Expansion Strategy     9 Major Cities · 3 Price Segments · 13 Cuisine Categories   Restaurant Market Intelligence Report that identified expansion opportunities by analyzing restaurant density, cuisine demand, customer ratings, and pricing across Indian cities. Based on the analysis, I recommended cities and cuisine segments with strong growth potential</vt:lpstr>
      <vt:lpstr>City-Wise Restaurant And Average Rating</vt:lpstr>
      <vt:lpstr>Cuisine Demand &amp; Rating Analysis</vt:lpstr>
      <vt:lpstr>Price Category Distribution</vt:lpstr>
      <vt:lpstr>City Scoring Matrix</vt:lpstr>
      <vt:lpstr>Final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SAQIB AMIN</dc:creator>
  <cp:lastModifiedBy>SAQIB AMIN</cp:lastModifiedBy>
  <cp:revision>5</cp:revision>
  <dcterms:created xsi:type="dcterms:W3CDTF">2026-06-27T09:31:04Z</dcterms:created>
  <dcterms:modified xsi:type="dcterms:W3CDTF">2026-07-08T12:53:47Z</dcterms:modified>
</cp:coreProperties>
</file>